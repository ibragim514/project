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1" r:id="rId4"/>
    <p:sldId id="259" r:id="rId5"/>
    <p:sldId id="258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3A3A"/>
    <a:srgbClr val="4518FC"/>
    <a:srgbClr val="960000"/>
    <a:srgbClr val="9D9DFF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5835" autoAdjust="0"/>
  </p:normalViewPr>
  <p:slideViewPr>
    <p:cSldViewPr snapToGrid="0">
      <p:cViewPr varScale="1">
        <p:scale>
          <a:sx n="95" d="100"/>
          <a:sy n="95" d="100"/>
        </p:scale>
        <p:origin x="11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19C-4B12-9D22-382843C66B6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19C-4B12-9D22-382843C66B6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19C-4B12-9D22-382843C66B61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19C-4B12-9D22-382843C66B61}"/>
              </c:ext>
            </c:extLst>
          </c:dPt>
          <c:cat>
            <c:strRef>
              <c:f>Лист1!$A$2:$A$5</c:f>
              <c:strCache>
                <c:ptCount val="4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  <c:pt idx="3">
                  <c:v>Кв.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FF-44B6-B327-7A5B3AA479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8T16:23:22.135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8T16:23:22.487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11,'5'0,"1"-5,0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8T16:23:22.668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9T14:13:36.335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9T14:13:36.494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9T14:13:42.040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6755F8-AF65-4960-BF90-BDF69D117726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62C19B-03BC-47B6-877D-79D92E1735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39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2C19B-03BC-47B6-877D-79D92E173587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2332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4900" indent="0">
              <a:spcAft>
                <a:spcPts val="800"/>
              </a:spcAft>
              <a:buFont typeface="Wingdings" panose="05000000000000000000" pitchFamily="2" charset="2"/>
              <a:buNone/>
            </a:pPr>
            <a:r>
              <a:rPr lang="ru-RU" sz="1200" b="0" dirty="0">
                <a:latin typeface="Arial" panose="020B0604020202020204" pitchFamily="34" charset="0"/>
                <a:cs typeface="Arial" panose="020B0604020202020204" pitchFamily="34" charset="0"/>
              </a:rPr>
              <a:t>1. Создать компактный и быстрый цифровой справочник, предоставляющий мгновенный доступ к ключевым параметрам автомобилей.</a:t>
            </a:r>
            <a:endParaRPr lang="en-US" sz="12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4900" indent="0">
              <a:spcAft>
                <a:spcPts val="800"/>
              </a:spcAft>
              <a:buFont typeface="Wingdings" panose="05000000000000000000" pitchFamily="2" charset="2"/>
              <a:buNone/>
            </a:pPr>
            <a:r>
              <a:rPr lang="ru-RU" sz="1200" b="0" dirty="0">
                <a:latin typeface="Arial" panose="020B0604020202020204" pitchFamily="34" charset="0"/>
                <a:cs typeface="Arial" panose="020B0604020202020204" pitchFamily="34" charset="0"/>
              </a:rPr>
              <a:t>2. Реализовать систему эффективного поиска и фильтрации данных по марке и модели автомобиля</a:t>
            </a:r>
            <a:r>
              <a:rPr lang="ru-RU" sz="1200" b="0" dirty="0">
                <a:latin typeface="Go"/>
                <a:cs typeface="Arial" panose="020B0604020202020204" pitchFamily="34" charset="0"/>
              </a:rPr>
              <a:t>.</a:t>
            </a:r>
          </a:p>
          <a:p>
            <a:pPr marL="54900" indent="0">
              <a:spcAft>
                <a:spcPts val="800"/>
              </a:spcAft>
              <a:buFont typeface="Wingdings" panose="05000000000000000000" pitchFamily="2" charset="2"/>
              <a:buNone/>
            </a:pPr>
            <a:r>
              <a:rPr lang="ru-RU" sz="1200" b="0" dirty="0">
                <a:latin typeface="Arial" panose="020B0604020202020204" pitchFamily="34" charset="0"/>
                <a:cs typeface="Arial" panose="020B0604020202020204" pitchFamily="34" charset="0"/>
              </a:rPr>
              <a:t>3. Сформировать базу данных, доступную для работы в офлайн-режиме без необходимости подключения к интернету.</a:t>
            </a:r>
            <a:endParaRPr lang="ru-RU" sz="1200" b="0" cap="none" spc="0" dirty="0">
              <a:ln w="0"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2C19B-03BC-47B6-877D-79D92E173587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72014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Автосправочник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 это инструмент, который предоставляет информацию по различным аспектам владения и эксплуатации автомобиля,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dirty="0">
                <a:latin typeface="Arial" panose="020B0604020202020204" pitchFamily="34" charset="0"/>
                <a:cs typeface="Arial" panose="020B0604020202020204" pitchFamily="34" charset="0"/>
              </a:rPr>
              <a:t>он позволяет мгновенно найти характеристики автомобиля без необходимости искать их в интернете.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dirty="0">
                <a:latin typeface="Arial" panose="020B0604020202020204" pitchFamily="34" charset="0"/>
                <a:cs typeface="Arial" panose="020B0604020202020204" pitchFamily="34" charset="0"/>
              </a:rPr>
              <a:t>2. Интеллектуальный поиск по марке и модели среди тысяч записей за доли секунды.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dirty="0">
                <a:latin typeface="Arial" panose="020B0604020202020204" pitchFamily="34" charset="0"/>
                <a:cs typeface="Arial" panose="020B0604020202020204" pitchFamily="34" charset="0"/>
              </a:rPr>
              <a:t>3. Он превращает «сырые» данные из таблиц в удобный и наглядный графический интерфейс.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2C19B-03BC-47B6-877D-79D92E173587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6182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Python</a:t>
            </a:r>
            <a:r>
              <a:rPr lang="en-US" dirty="0"/>
              <a:t> — </a:t>
            </a:r>
            <a:r>
              <a:rPr lang="ru-RU" dirty="0"/>
              <a:t>основной язык разработки.</a:t>
            </a:r>
          </a:p>
          <a:p>
            <a:r>
              <a:rPr lang="ru-RU" b="1" dirty="0"/>
              <a:t>Tkinter</a:t>
            </a:r>
            <a:r>
              <a:rPr lang="ru-RU" dirty="0"/>
              <a:t> — построение графического интерфейса пользователя (GUI), работа с окнами и виджетами.</a:t>
            </a:r>
          </a:p>
          <a:p>
            <a:r>
              <a:rPr lang="ru-RU" b="1" dirty="0"/>
              <a:t>Pandas</a:t>
            </a:r>
            <a:r>
              <a:rPr lang="ru-RU" dirty="0"/>
              <a:t> — Работа с данными: чтение CSV-файла, фильтрация базы автомобилей и управление табличными структурами.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2C19B-03BC-47B6-877D-79D92E173587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59589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dirty="0"/>
              <a:t>1. </a:t>
            </a:r>
            <a:r>
              <a:rPr lang="ru-RU" sz="1200" b="0" i="0" u="none" dirty="0">
                <a:effectLst/>
              </a:rPr>
              <a:t>Чистота данных: </a:t>
            </a:r>
            <a:r>
              <a:rPr lang="ru-RU" sz="1200" b="0" dirty="0"/>
              <a:t>Отсутствие рекламы, коммерческих предложений и лишнего информационного шума, характерного для маркетплейсов.</a:t>
            </a:r>
          </a:p>
          <a:p>
            <a:r>
              <a:rPr lang="ru-RU" sz="1200" b="0" dirty="0"/>
              <a:t>2. Высокая автономность: Приложение работает полностью офлайн и не требует стабильного интернет-соединения для доступа к базе.</a:t>
            </a:r>
          </a:p>
          <a:p>
            <a:r>
              <a:rPr lang="ru-RU" sz="1200" b="0" dirty="0"/>
              <a:t>3. Скорость и легкость: Мгновенный отклик интерфейса и быстрый поиск по всей базе данных за счёт использования библиотеки Pandas.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2C19B-03BC-47B6-877D-79D92E173587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8166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1. Приложение позволяет переключаться между светлым и темным режимами одним нажатием кнопки,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i="0" dirty="0"/>
              <a:t>программа автоматически пересчитывает цвета всех элементов: от фона и текста до рамок таблиц и полос прокрутки.</a:t>
            </a:r>
            <a:endParaRPr lang="ru-RU" dirty="0"/>
          </a:p>
          <a:p>
            <a:r>
              <a:rPr lang="ru-RU" dirty="0"/>
              <a:t>2. Программа запоминает, что вы искали и какую машину выбрали, даже если вы решили поменять цвет оформления,</a:t>
            </a:r>
          </a:p>
          <a:p>
            <a:r>
              <a:rPr lang="ru-RU" i="0" dirty="0"/>
              <a:t>это позволяет пользователю не отвлекаться на повторный ввод данных и сохраняет темп работы с программой.</a:t>
            </a:r>
            <a:endParaRPr lang="en-US" i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altLang="ru-RU" sz="1200" b="0" dirty="0">
                <a:latin typeface="Arial" panose="020B0604020202020204" pitchFamily="34" charset="0"/>
              </a:rPr>
              <a:t>3. Характеристики машины в правой части экрана обновляются мгновенно при нажатии на название</a:t>
            </a:r>
            <a:r>
              <a:rPr lang="en-US" altLang="ru-RU" sz="1200" b="0" dirty="0">
                <a:latin typeface="Arial" panose="020B0604020202020204" pitchFamily="34" charset="0"/>
              </a:rPr>
              <a:t>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altLang="ru-RU" sz="1200" b="0" dirty="0">
                <a:latin typeface="Arial" panose="020B0604020202020204" pitchFamily="34" charset="0"/>
              </a:rPr>
              <a:t>программе не нужно открывать новые окна, всё происходит на одном экране.</a:t>
            </a:r>
          </a:p>
          <a:p>
            <a:endParaRPr lang="ru-RU" i="0" dirty="0"/>
          </a:p>
          <a:p>
            <a:endParaRPr lang="ru-RU" i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2C19B-03BC-47B6-877D-79D92E173587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53720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 Создание удобного окна, чтобы пользователь мог сам вносить новые машины в базу, не открывая таблицу в 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Excel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en-US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 Разработка режима, который позволит вывести характеристики двух разных машин на один экран для удобного сравнения.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3. Добавление наглядных графиков, которые покажут, как меняются цены на авто в зависимости от года выпуска или мощности.</a:t>
            </a:r>
            <a:endParaRPr kumimoji="0" lang="ru-RU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2C19B-03BC-47B6-877D-79D92E173587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1830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49C8FD-B599-FE1E-3F42-69917989B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708773B-30EA-0CA6-D9BA-61F71B1A4A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0B28A6-3C79-709E-1457-8EE60182A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8ACA-60F3-4D8F-B609-A68F806A6D14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7E52804-8D45-68CC-53D0-FF8662A0E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44A2BD0-E4C8-C9FC-FA49-02D67F96E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D681-AB9B-42DE-9DAC-CBA4B83933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2479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D5FBE4-7F50-0AF9-A57D-1215CA879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FC1206-40F0-B4F3-12D8-8DC083CBD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9BE84F5-8A24-0A27-60F6-5BD94768E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8ACA-60F3-4D8F-B609-A68F806A6D14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800B2F-9AE3-FF36-FE6A-84F66ECEA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17BE93-5CAD-744B-9373-915554DA1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D681-AB9B-42DE-9DAC-CBA4B83933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5060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11F05A-D5BF-0281-4D64-B9E11FDCB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C34DC39-FB3F-2E52-F05B-16ECBD7F6C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CEBFA7F-D9AB-AD7A-34D8-3893C2DF5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8ACA-60F3-4D8F-B609-A68F806A6D14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C5019DA-8B5A-0A34-5416-5515EDC2A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142951-3F86-A5B6-9FF8-53D80E3CD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D681-AB9B-42DE-9DAC-CBA4B83933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4042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666EAB-0B54-09FD-E0AE-B56623B4F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CEEFBE-35E5-0E78-8909-F22A4471AC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76CBEB1-33E1-8F41-7FAA-1A579681AF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CC7F198-B008-818E-2F7A-5B37935B3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8ACA-60F3-4D8F-B609-A68F806A6D14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D47B54C-70E6-2472-1396-FA5A09373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4C90287-93A0-9A36-3FD1-1D856F9A8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D681-AB9B-42DE-9DAC-CBA4B83933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9353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F27AC5-B56C-27DD-5F4A-D16EBD579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5BDCF9D-BEAB-A4E2-B91D-C9207FD35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F4300D6-9E32-502C-81E9-3588F4126D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CFDA8F4-1F2D-BC25-B411-351313C54E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D7FAA0D-37DD-7E7E-5BD6-AB19E9DFCA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00BAF06-98A8-9F4A-C7D2-0A037344D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8ACA-60F3-4D8F-B609-A68F806A6D14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F81F8E8-5B38-B25D-7BE6-C87E6F8E2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6966340-80B5-468A-E101-FCB10901A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D681-AB9B-42DE-9DAC-CBA4B83933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0867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7166E2-12B8-A422-AC07-4180089B0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1D5B5DB-CD10-7418-7D71-82F23F0EF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8ACA-60F3-4D8F-B609-A68F806A6D14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416C7D9-D6AF-00F3-C366-797FBFD83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26D98A2-945C-0465-D245-CB74A8586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D681-AB9B-42DE-9DAC-CBA4B83933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868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8324C29-D0DA-1440-4668-7FBE2DB85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8ACA-60F3-4D8F-B609-A68F806A6D14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D366BA6-CD51-09B9-ECEF-8E1F5E24D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E0B58F3-3CC6-0266-5157-A875CEF40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D681-AB9B-42DE-9DAC-CBA4B83933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7643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DD0DF3-B686-66DE-CB2E-84A8330A1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B9D45C-4B4F-5804-8C0A-CD5AFAE98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46EAF5F-EA9B-A388-583D-F0B3A8C3E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6A344F5-ABED-83FC-048A-954A44A3E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8ACA-60F3-4D8F-B609-A68F806A6D14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7161415-CFEA-0286-3721-40A9030F0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B63FDFC-587F-A250-B290-6F6BA6B14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D681-AB9B-42DE-9DAC-CBA4B83933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2515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5FBBA7-D311-8005-BBB9-97D583ACE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883B508-3E04-9203-9D96-9EDF6E40FE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8549061-1575-64A3-DC41-CFC4C6957B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DAAB70B-A707-65F9-5817-B37A87CE8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8ACA-60F3-4D8F-B609-A68F806A6D14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9C22946-B514-C5FE-197A-98D96488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C9E036B-E15E-92AA-D240-A7F53EACD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D681-AB9B-42DE-9DAC-CBA4B83933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3785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C73DA8-DDEB-E93D-1EB0-D67D12A3E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AB2BF8F-6557-D37C-4654-91D15BEA50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9BF25D-1FC2-2A1A-9382-E7558121F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8ACA-60F3-4D8F-B609-A68F806A6D14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BE9738-26E0-E3A0-8274-0ABB8ED5E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607721-38A3-E882-EEA1-8B7363A50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D681-AB9B-42DE-9DAC-CBA4B83933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5000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6604BFB-16D8-37BE-7D82-16DD5ECAEA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C52204D-C66A-27C7-6BA6-2196E140B1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6ADBDBE-44F3-3DD8-2F2E-AC5805178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8ACA-60F3-4D8F-B609-A68F806A6D14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A6398EB-A714-ECF8-F9A0-108492D47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6AE220-6F01-2EA0-40F6-D7899F374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D681-AB9B-42DE-9DAC-CBA4B83933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0544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164042-D019-7A8E-7CF4-57AC5FB7D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F99E0EE-92CB-8300-727F-4E7BDAFA2B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6F0241-F2BE-7E7C-7FCD-522C019197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1A8ACA-60F3-4D8F-B609-A68F806A6D14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BBCC0E-5098-9F88-6FE3-304884A682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4F71E0-AFFD-58FB-407D-5B9BB72A7D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6CD681-AB9B-42DE-9DAC-CBA4B83933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2619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4.png"/><Relationship Id="rId3" Type="http://schemas.openxmlformats.org/officeDocument/2006/relationships/image" Target="../media/image2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3.xml"/><Relationship Id="rId5" Type="http://schemas.openxmlformats.org/officeDocument/2006/relationships/customXml" Target="../ink/ink1.xm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customXml" Target="../ink/ink2.xml"/><Relationship Id="rId1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customXml" Target="../ink/ink6.xml"/><Relationship Id="rId5" Type="http://schemas.microsoft.com/office/2007/relationships/hdphoto" Target="../media/hdphoto2.wdp"/><Relationship Id="rId10" Type="http://schemas.openxmlformats.org/officeDocument/2006/relationships/customXml" Target="../ink/ink5.xml"/><Relationship Id="rId4" Type="http://schemas.openxmlformats.org/officeDocument/2006/relationships/image" Target="../media/image9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2.png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microsoft.com/office/2007/relationships/hdphoto" Target="../media/hdphoto3.wdp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chart" Target="../charts/chart1.xml"/><Relationship Id="rId7" Type="http://schemas.openxmlformats.org/officeDocument/2006/relationships/image" Target="../media/image2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microsoft.com/office/2007/relationships/hdphoto" Target="../media/hdphoto4.wdp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8ECD9F-8A0B-D4C4-8A9E-E1233F56B6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62A1C1F-A142-03C3-F8F3-92AFAA7252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71F2503-DDB2-3234-15D8-3C21A889C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456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FC917AC-EEE1-26B3-4DC5-6E03AFC0DDD6}"/>
              </a:ext>
            </a:extLst>
          </p:cNvPr>
          <p:cNvSpPr/>
          <p:nvPr/>
        </p:nvSpPr>
        <p:spPr>
          <a:xfrm>
            <a:off x="1768029" y="2524820"/>
            <a:ext cx="8655939" cy="156966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200" b="0" cap="none" dirty="0">
                <a:ln w="0"/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Индивидуальный проект на тему:</a:t>
            </a:r>
          </a:p>
          <a:p>
            <a:pPr algn="ctr"/>
            <a:r>
              <a:rPr lang="en-US" sz="3200" dirty="0">
                <a:ln w="0"/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“</a:t>
            </a:r>
            <a:r>
              <a:rPr lang="ru-RU" sz="3200" b="0" cap="none" dirty="0">
                <a:ln w="0"/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Разработка авто</a:t>
            </a:r>
            <a:r>
              <a:rPr lang="ru-RU" sz="3200" dirty="0">
                <a:ln w="0"/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мобильного</a:t>
            </a:r>
          </a:p>
          <a:p>
            <a:pPr algn="ctr"/>
            <a:r>
              <a:rPr lang="ru-RU" sz="3200" b="0" cap="none" dirty="0">
                <a:ln w="0"/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справочника</a:t>
            </a:r>
            <a:r>
              <a:rPr lang="en-US" sz="3200" b="0" cap="none" dirty="0">
                <a:ln w="0"/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”</a:t>
            </a:r>
            <a:endParaRPr lang="ru-RU" sz="3200" b="0" cap="none" dirty="0">
              <a:ln w="0"/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FA1F6A5-D811-938F-06B9-3F4BB4D33B71}"/>
              </a:ext>
            </a:extLst>
          </p:cNvPr>
          <p:cNvSpPr/>
          <p:nvPr/>
        </p:nvSpPr>
        <p:spPr>
          <a:xfrm>
            <a:off x="7340094" y="5742293"/>
            <a:ext cx="3019866" cy="63094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r>
              <a:rPr lang="ru-RU" sz="1750" b="1" cap="none" spc="0" dirty="0">
                <a:ln w="0"/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Выполнил: Омаров И. Ш.</a:t>
            </a:r>
          </a:p>
          <a:p>
            <a:r>
              <a:rPr lang="ru-RU" sz="1750" b="1" dirty="0">
                <a:ln w="0"/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Группа: ИСП-41</a:t>
            </a:r>
            <a:endParaRPr lang="ru-RU" sz="1750" b="1" cap="none" spc="0" dirty="0">
              <a:ln w="0"/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6603E05-F93D-CB6C-0B79-6DAFB3A105CA}"/>
              </a:ext>
            </a:extLst>
          </p:cNvPr>
          <p:cNvSpPr/>
          <p:nvPr/>
        </p:nvSpPr>
        <p:spPr>
          <a:xfrm>
            <a:off x="1610481" y="53095"/>
            <a:ext cx="8971033" cy="52322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u="none" strike="noStrik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Arial" panose="020B0604020202020204" pitchFamily="34" charset="0"/>
                <a:cs typeface="Arial" panose="020B0604020202020204" pitchFamily="34" charset="0"/>
              </a:rPr>
              <a:t>Государственное бюджетное профессиональное образовательное учреждение Московской области "Физико-технический колледж"</a:t>
            </a:r>
            <a:r>
              <a:rPr lang="en-US" sz="1400" b="1" u="none" strike="noStrik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ru-RU" sz="1400" b="1" u="none" strike="noStrik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Arial" panose="020B0604020202020204" pitchFamily="34" charset="0"/>
                <a:cs typeface="Arial" panose="020B0604020202020204" pitchFamily="34" charset="0"/>
              </a:rPr>
              <a:t>ГБПОУ МО </a:t>
            </a:r>
            <a:r>
              <a:rPr lang="en-US" sz="1400" b="1" u="none" strike="noStrik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ru-RU" sz="1400" b="1" u="none" strike="noStrik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Arial" panose="020B0604020202020204" pitchFamily="34" charset="0"/>
                <a:cs typeface="Arial" panose="020B0604020202020204" pitchFamily="34" charset="0"/>
              </a:rPr>
              <a:t>Физтех-колледж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”)</a:t>
            </a:r>
            <a:endParaRPr lang="ru-RU" sz="14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2306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5207225-322F-0585-7598-7BF93A0324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" y="0"/>
            <a:ext cx="12191032" cy="6858000"/>
          </a:xfrm>
          <a:prstGeom prst="rect">
            <a:avLst/>
          </a:prstGeom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951C428-C4A4-189C-ABC5-B96D642E396C}"/>
              </a:ext>
            </a:extLst>
          </p:cNvPr>
          <p:cNvSpPr/>
          <p:nvPr/>
        </p:nvSpPr>
        <p:spPr>
          <a:xfrm>
            <a:off x="798247" y="663047"/>
            <a:ext cx="2374721" cy="707886"/>
          </a:xfrm>
          <a:prstGeom prst="rect">
            <a:avLst/>
          </a:prstGeom>
          <a:noFill/>
          <a:effectLst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4000" b="1" cap="none" spc="0" dirty="0">
                <a:ln w="0"/>
                <a:solidFill>
                  <a:srgbClr val="4518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Задачи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521F287-CCBE-2F94-96CC-472B94F70142}"/>
              </a:ext>
            </a:extLst>
          </p:cNvPr>
          <p:cNvSpPr/>
          <p:nvPr/>
        </p:nvSpPr>
        <p:spPr>
          <a:xfrm>
            <a:off x="664812" y="1939445"/>
            <a:ext cx="6735575" cy="29290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978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ru-RU" sz="1900" b="1" dirty="0">
                <a:latin typeface="Arial" panose="020B0604020202020204" pitchFamily="34" charset="0"/>
                <a:cs typeface="Arial" panose="020B0604020202020204" pitchFamily="34" charset="0"/>
              </a:rPr>
              <a:t>Создать компактный и быстрый цифровой справочник, предоставляющий мгновенный доступ к ключевым параметрам автомобилей.</a:t>
            </a:r>
            <a:endParaRPr lang="en-US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978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ru-RU" sz="1900" b="1" dirty="0">
                <a:latin typeface="Arial" panose="020B0604020202020204" pitchFamily="34" charset="0"/>
                <a:cs typeface="Arial" panose="020B0604020202020204" pitchFamily="34" charset="0"/>
              </a:rPr>
              <a:t>Реализовать систему эффективного поиска и фильтрации данных по марке и модели автомобиля</a:t>
            </a:r>
            <a:r>
              <a:rPr lang="ru-RU" sz="1900" b="1" dirty="0">
                <a:latin typeface="Go"/>
                <a:cs typeface="Arial" panose="020B0604020202020204" pitchFamily="34" charset="0"/>
              </a:rPr>
              <a:t>.</a:t>
            </a:r>
          </a:p>
          <a:p>
            <a:pPr marL="3978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ru-RU" sz="1900" b="1" dirty="0">
                <a:latin typeface="Arial" panose="020B0604020202020204" pitchFamily="34" charset="0"/>
                <a:cs typeface="Arial" panose="020B0604020202020204" pitchFamily="34" charset="0"/>
              </a:rPr>
              <a:t>Сформировать базу данных, доступную для работы в офлайн-режиме без необходимости подключения к интернету.</a:t>
            </a:r>
            <a:endParaRPr lang="ru-RU" sz="1900" b="1" cap="none" spc="0" dirty="0">
              <a:ln w="0"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36" name="Picture 12" descr="Picture background">
            <a:extLst>
              <a:ext uri="{FF2B5EF4-FFF2-40B4-BE49-F238E27FC236}">
                <a16:creationId xmlns:a16="http://schemas.microsoft.com/office/drawing/2014/main" id="{FB254E74-8B76-E63D-9EF1-E50032C47C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2634" y="1448503"/>
            <a:ext cx="2001371" cy="18654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">
            <p14:nvContentPartPr>
              <p14:cNvPr id="45" name="Рукописный ввод 44">
                <a:extLst>
                  <a:ext uri="{FF2B5EF4-FFF2-40B4-BE49-F238E27FC236}">
                    <a16:creationId xmlns:a16="http://schemas.microsoft.com/office/drawing/2014/main" id="{9459C29F-5163-5230-5F92-14F071F5A7A2}"/>
                  </a:ext>
                </a:extLst>
              </p14:cNvPr>
              <p14:cNvContentPartPr/>
              <p14:nvPr/>
            </p14:nvContentPartPr>
            <p14:xfrm>
              <a:off x="1289747" y="1780617"/>
              <a:ext cx="360" cy="360"/>
            </p14:xfrm>
          </p:contentPart>
        </mc:Choice>
        <mc:Fallback xmlns="">
          <p:pic>
            <p:nvPicPr>
              <p:cNvPr id="45" name="Рукописный ввод 44">
                <a:extLst>
                  <a:ext uri="{FF2B5EF4-FFF2-40B4-BE49-F238E27FC236}">
                    <a16:creationId xmlns:a16="http://schemas.microsoft.com/office/drawing/2014/main" id="{9459C29F-5163-5230-5F92-14F071F5A7A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80747" y="1726617"/>
                <a:ext cx="18000" cy="10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Группа 47">
            <a:extLst>
              <a:ext uri="{FF2B5EF4-FFF2-40B4-BE49-F238E27FC236}">
                <a16:creationId xmlns:a16="http://schemas.microsoft.com/office/drawing/2014/main" id="{325C4C15-0C68-3F39-51CC-E3C36978BDA6}"/>
              </a:ext>
            </a:extLst>
          </p:cNvPr>
          <p:cNvGrpSpPr/>
          <p:nvPr/>
        </p:nvGrpSpPr>
        <p:grpSpPr>
          <a:xfrm>
            <a:off x="1597547" y="1068177"/>
            <a:ext cx="10080" cy="9720"/>
            <a:chOff x="1597547" y="1068177"/>
            <a:chExt cx="10080" cy="972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">
              <p14:nvContentPartPr>
                <p14:cNvPr id="46" name="Рукописный ввод 45">
                  <a:extLst>
                    <a:ext uri="{FF2B5EF4-FFF2-40B4-BE49-F238E27FC236}">
                      <a16:creationId xmlns:a16="http://schemas.microsoft.com/office/drawing/2014/main" id="{682300FF-CA74-1D74-35D3-0B81836CF217}"/>
                    </a:ext>
                  </a:extLst>
                </p14:cNvPr>
                <p14:cNvContentPartPr/>
                <p14:nvPr/>
              </p14:nvContentPartPr>
              <p14:xfrm>
                <a:off x="1597547" y="1073937"/>
                <a:ext cx="6480" cy="3960"/>
              </p14:xfrm>
            </p:contentPart>
          </mc:Choice>
          <mc:Fallback xmlns="">
            <p:pic>
              <p:nvPicPr>
                <p:cNvPr id="46" name="Рукописный ввод 45">
                  <a:extLst>
                    <a:ext uri="{FF2B5EF4-FFF2-40B4-BE49-F238E27FC236}">
                      <a16:creationId xmlns:a16="http://schemas.microsoft.com/office/drawing/2014/main" id="{682300FF-CA74-1D74-35D3-0B81836CF21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588547" y="1020297"/>
                  <a:ext cx="241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1">
              <p14:nvContentPartPr>
                <p14:cNvPr id="47" name="Рукописный ввод 46">
                  <a:extLst>
                    <a:ext uri="{FF2B5EF4-FFF2-40B4-BE49-F238E27FC236}">
                      <a16:creationId xmlns:a16="http://schemas.microsoft.com/office/drawing/2014/main" id="{5CA9FD55-CABF-C192-352D-3A51300349A4}"/>
                    </a:ext>
                  </a:extLst>
                </p14:cNvPr>
                <p14:cNvContentPartPr/>
                <p14:nvPr/>
              </p14:nvContentPartPr>
              <p14:xfrm>
                <a:off x="1607267" y="1068177"/>
                <a:ext cx="360" cy="360"/>
              </p14:xfrm>
            </p:contentPart>
          </mc:Choice>
          <mc:Fallback xmlns="">
            <p:pic>
              <p:nvPicPr>
                <p:cNvPr id="47" name="Рукописный ввод 46">
                  <a:extLst>
                    <a:ext uri="{FF2B5EF4-FFF2-40B4-BE49-F238E27FC236}">
                      <a16:creationId xmlns:a16="http://schemas.microsoft.com/office/drawing/2014/main" id="{5CA9FD55-CABF-C192-352D-3A51300349A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598627" y="1014537"/>
                  <a:ext cx="18000" cy="1080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" name="Picture 2" descr="Picture background">
            <a:extLst>
              <a:ext uri="{FF2B5EF4-FFF2-40B4-BE49-F238E27FC236}">
                <a16:creationId xmlns:a16="http://schemas.microsoft.com/office/drawing/2014/main" id="{333888D3-D2DA-BAA8-CEAC-2D02125CF9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35938" y1="34583" x2="45833" y2="46146"/>
                        <a14:foregroundMark x1="35938" y1="36771" x2="68385" y2="64792"/>
                        <a14:foregroundMark x1="57656" y1="46667" x2="55208" y2="48854"/>
                        <a14:foregroundMark x1="62865" y1="46406" x2="62865" y2="49948"/>
                        <a14:foregroundMark x1="59010" y1="39271" x2="59010" y2="39271"/>
                        <a14:foregroundMark x1="60938" y1="39271" x2="56823" y2="37031"/>
                        <a14:foregroundMark x1="57083" y1="39792" x2="44479" y2="38125"/>
                        <a14:foregroundMark x1="35417" y1="44740" x2="55937" y2="64323"/>
                        <a14:foregroundMark x1="55937" y1="64323" x2="62604" y2="58229"/>
                        <a14:foregroundMark x1="37865" y1="56042" x2="46927" y2="64792"/>
                        <a14:foregroundMark x1="44479" y1="48333" x2="46667" y2="52969"/>
                        <a14:foregroundMark x1="38958" y1="61771" x2="42240" y2="65104"/>
                        <a14:foregroundMark x1="61771" y1="59583" x2="63177" y2="54635"/>
                        <a14:foregroundMark x1="30990" y1="28542" x2="24948" y2="3401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440" y="3429000"/>
            <a:ext cx="2527258" cy="24613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0605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777FD79-2FA0-77DD-BE8B-C7D56BB552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" y="0"/>
            <a:ext cx="12191032" cy="68580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25EFDD7-2AAA-1BA4-450C-EE78E39962E3}"/>
              </a:ext>
            </a:extLst>
          </p:cNvPr>
          <p:cNvSpPr/>
          <p:nvPr/>
        </p:nvSpPr>
        <p:spPr>
          <a:xfrm>
            <a:off x="566819" y="703599"/>
            <a:ext cx="7129382" cy="646331"/>
          </a:xfrm>
          <a:prstGeom prst="rect">
            <a:avLst/>
          </a:prstGeom>
          <a:noFill/>
          <a:effectLst/>
        </p:spPr>
        <p:txBody>
          <a:bodyPr wrap="square" lIns="91440" tIns="45720" rIns="91440" bIns="45720">
            <a:spAutoFit/>
          </a:bodyPr>
          <a:lstStyle/>
          <a:p>
            <a:r>
              <a:rPr lang="ru-RU" sz="3600" b="1" dirty="0">
                <a:ln w="0"/>
                <a:solidFill>
                  <a:srgbClr val="4518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Зачем нужен Автосправочник? </a:t>
            </a:r>
            <a:endParaRPr lang="ru-RU" sz="3600" b="1" cap="none" spc="0" dirty="0">
              <a:ln w="0"/>
              <a:solidFill>
                <a:srgbClr val="4518F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4E174AF-697C-3E69-1BC9-E8300B4E17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9327" y="1349930"/>
            <a:ext cx="2751740" cy="46597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E185FCD-375F-0274-9F51-ACEE58613F9E}"/>
              </a:ext>
            </a:extLst>
          </p:cNvPr>
          <p:cNvSpPr txBox="1"/>
          <p:nvPr/>
        </p:nvSpPr>
        <p:spPr>
          <a:xfrm>
            <a:off x="566819" y="1925710"/>
            <a:ext cx="6846704" cy="3272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1900" b="1" dirty="0">
                <a:solidFill>
                  <a:srgbClr val="4518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Быстрый доступ к данным</a:t>
            </a:r>
            <a:endParaRPr lang="ru-RU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000"/>
              </a:spcAft>
            </a:pPr>
            <a:r>
              <a:rPr lang="ru-RU" sz="1900" b="1" dirty="0">
                <a:latin typeface="Arial" panose="020B0604020202020204" pitchFamily="34" charset="0"/>
                <a:cs typeface="Arial" panose="020B0604020202020204" pitchFamily="34" charset="0"/>
              </a:rPr>
              <a:t>Позволяет мгновенно найти характеристики автомобиля без необходимости искать их в интернете.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1900" b="1" dirty="0">
                <a:solidFill>
                  <a:srgbClr val="4518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Удобная фильтрация</a:t>
            </a:r>
          </a:p>
          <a:p>
            <a:pPr>
              <a:spcAft>
                <a:spcPts val="1000"/>
              </a:spcAft>
            </a:pPr>
            <a:r>
              <a:rPr lang="ru-RU" sz="1900" b="1" dirty="0">
                <a:latin typeface="Arial" panose="020B0604020202020204" pitchFamily="34" charset="0"/>
                <a:cs typeface="Arial" panose="020B0604020202020204" pitchFamily="34" charset="0"/>
              </a:rPr>
              <a:t>Интеллектуальный поиск по марке и модели среди тысяч записей за доли секунды.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1900" b="1" dirty="0">
                <a:solidFill>
                  <a:srgbClr val="4518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Структурирование информации</a:t>
            </a:r>
          </a:p>
          <a:p>
            <a:r>
              <a:rPr lang="ru-RU" sz="1900" b="1" dirty="0">
                <a:latin typeface="Arial" panose="020B0604020202020204" pitchFamily="34" charset="0"/>
                <a:cs typeface="Arial" panose="020B0604020202020204" pitchFamily="34" charset="0"/>
              </a:rPr>
              <a:t>Превращает «сырые» данные из таблиц в удобный и наглядный графический интерфейс.</a:t>
            </a:r>
          </a:p>
          <a:p>
            <a:pPr algn="r"/>
            <a:endParaRPr lang="ru-RU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071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EB53B81-862C-BB3C-DA86-F2EC1AC16C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" y="0"/>
            <a:ext cx="12191032" cy="685800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2BD6DE9-844F-EE4B-D46D-2EF1522FBEF1}"/>
              </a:ext>
            </a:extLst>
          </p:cNvPr>
          <p:cNvSpPr/>
          <p:nvPr/>
        </p:nvSpPr>
        <p:spPr>
          <a:xfrm>
            <a:off x="438305" y="669300"/>
            <a:ext cx="3841130" cy="707886"/>
          </a:xfrm>
          <a:prstGeom prst="rect">
            <a:avLst/>
          </a:prstGeom>
          <a:noFill/>
          <a:effectLst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4000" b="1" cap="none" spc="0" dirty="0">
                <a:ln w="0"/>
                <a:solidFill>
                  <a:srgbClr val="4518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Библиотеки</a:t>
            </a:r>
          </a:p>
        </p:txBody>
      </p: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93EE6E6C-3580-F5DC-D261-89D8006EAC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3455" r="99091">
                        <a14:foregroundMark x1="44727" y1="42727" x2="83273" y2="44727"/>
                        <a14:foregroundMark x1="49818" y1="42364" x2="85636" y2="43091"/>
                        <a14:foregroundMark x1="85636" y1="43091" x2="94727" y2="41636"/>
                        <a14:foregroundMark x1="93091" y1="41273" x2="95455" y2="41091"/>
                        <a14:foregroundMark x1="97818" y1="41636" x2="97636" y2="44909"/>
                        <a14:foregroundMark x1="98909" y1="50364" x2="94182" y2="50545"/>
                        <a14:foregroundMark x1="96545" y1="52727" x2="71636" y2="50909"/>
                        <a14:foregroundMark x1="55636" y1="51091" x2="77455" y2="51273"/>
                        <a14:foregroundMark x1="51455" y1="50000" x2="65455" y2="51273"/>
                        <a14:foregroundMark x1="46182" y1="51636" x2="63455" y2="51818"/>
                        <a14:foregroundMark x1="41091" y1="54727" x2="75636" y2="55818"/>
                        <a14:foregroundMark x1="75636" y1="55818" x2="94000" y2="55636"/>
                        <a14:foregroundMark x1="94000" y1="55636" x2="96364" y2="56000"/>
                        <a14:foregroundMark x1="42545" y1="57091" x2="55091" y2="57273"/>
                        <a14:foregroundMark x1="55091" y1="57273" x2="99091" y2="56000"/>
                        <a14:foregroundMark x1="31455" y1="66727" x2="28909" y2="63273"/>
                        <a14:foregroundMark x1="8000" y1="53818" x2="3455" y2="43636"/>
                        <a14:foregroundMark x1="46909" y1="42545" x2="84364" y2="40909"/>
                        <a14:foregroundMark x1="45818" y1="41455" x2="67455" y2="41273"/>
                        <a14:foregroundMark x1="41455" y1="39818" x2="48000" y2="40364"/>
                        <a14:foregroundMark x1="43455" y1="39091" x2="44364" y2="39273"/>
                        <a14:foregroundMark x1="41273" y1="38909" x2="44000" y2="39273"/>
                        <a14:foregroundMark x1="42364" y1="40000" x2="45636" y2="40000"/>
                        <a14:foregroundMark x1="49455" y1="58364" x2="93636" y2="57091"/>
                        <a14:foregroundMark x1="43818" y1="60000" x2="42182" y2="60182"/>
                        <a14:foregroundMark x1="42909" y1="60000" x2="43636" y2="60364"/>
                        <a14:foregroundMark x1="16364" y1="30909" x2="18909" y2="32909"/>
                        <a14:foregroundMark x1="41273" y1="39273" x2="44182" y2="39273"/>
                        <a14:foregroundMark x1="41818" y1="38727" x2="43636" y2="39091"/>
                        <a14:foregroundMark x1="42727" y1="39455" x2="43273" y2="39455"/>
                        <a14:foregroundMark x1="42545" y1="60364" x2="44364" y2="6018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3371" b="23956"/>
          <a:stretch>
            <a:fillRect/>
          </a:stretch>
        </p:blipFill>
        <p:spPr bwMode="auto">
          <a:xfrm>
            <a:off x="777871" y="4069813"/>
            <a:ext cx="3006915" cy="14724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F57B7F0-4F6E-8C0F-B220-D4A19A9BFF90}"/>
              </a:ext>
            </a:extLst>
          </p:cNvPr>
          <p:cNvSpPr txBox="1"/>
          <p:nvPr/>
        </p:nvSpPr>
        <p:spPr>
          <a:xfrm>
            <a:off x="725907" y="2046486"/>
            <a:ext cx="6625388" cy="1225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sz="1900" b="1" dirty="0">
                <a:solidFill>
                  <a:srgbClr val="4518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 — </a:t>
            </a:r>
            <a:r>
              <a:rPr lang="ru-RU" sz="1900" b="1" dirty="0">
                <a:latin typeface="Arial" panose="020B0604020202020204" pitchFamily="34" charset="0"/>
                <a:cs typeface="Arial" panose="020B0604020202020204" pitchFamily="34" charset="0"/>
              </a:rPr>
              <a:t>основной язык разработки.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ru-RU" sz="1900" b="1" dirty="0">
                <a:solidFill>
                  <a:srgbClr val="4518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Tkinter</a:t>
            </a:r>
            <a:r>
              <a:rPr lang="ru-RU" sz="1900" b="1" dirty="0">
                <a:latin typeface="Arial" panose="020B0604020202020204" pitchFamily="34" charset="0"/>
                <a:cs typeface="Arial" panose="020B0604020202020204" pitchFamily="34" charset="0"/>
              </a:rPr>
              <a:t> — интерфейс: кнопки, поиск, навигация.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ru-RU" sz="1900" b="1" dirty="0">
                <a:solidFill>
                  <a:srgbClr val="4518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Pandas</a:t>
            </a:r>
            <a:r>
              <a:rPr lang="ru-RU" sz="1900" b="1" dirty="0">
                <a:latin typeface="Arial" panose="020B0604020202020204" pitchFamily="34" charset="0"/>
                <a:cs typeface="Arial" panose="020B0604020202020204" pitchFamily="34" charset="0"/>
              </a:rPr>
              <a:t> — аналитика: обработка базы данных.</a:t>
            </a:r>
          </a:p>
        </p:txBody>
      </p:sp>
      <p:pic>
        <p:nvPicPr>
          <p:cNvPr id="3080" name="Picture 8" descr="Picture background">
            <a:extLst>
              <a:ext uri="{FF2B5EF4-FFF2-40B4-BE49-F238E27FC236}">
                <a16:creationId xmlns:a16="http://schemas.microsoft.com/office/drawing/2014/main" id="{1802D8E1-2E32-C0C7-2A26-2A4C4FFC00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2173" y="4282700"/>
            <a:ext cx="2586430" cy="10466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06661A1D-6044-4A14-5F40-95006CB16EA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6706"/>
          <a:stretch>
            <a:fillRect/>
          </a:stretch>
        </p:blipFill>
        <p:spPr>
          <a:xfrm>
            <a:off x="8153400" y="2915901"/>
            <a:ext cx="3667481" cy="7131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72290603-39D5-2852-C216-9EF68942ECA3}"/>
              </a:ext>
            </a:extLst>
          </p:cNvPr>
          <p:cNvGrpSpPr/>
          <p:nvPr/>
        </p:nvGrpSpPr>
        <p:grpSpPr>
          <a:xfrm>
            <a:off x="10020420" y="5686380"/>
            <a:ext cx="360" cy="360"/>
            <a:chOff x="10020420" y="5686380"/>
            <a:chExt cx="360" cy="36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">
              <p14:nvContentPartPr>
                <p14:cNvPr id="21" name="Рукописный ввод 20">
                  <a:extLst>
                    <a:ext uri="{FF2B5EF4-FFF2-40B4-BE49-F238E27FC236}">
                      <a16:creationId xmlns:a16="http://schemas.microsoft.com/office/drawing/2014/main" id="{91E2CCE0-B3E3-CC9F-3434-6769A551D4E8}"/>
                    </a:ext>
                  </a:extLst>
                </p14:cNvPr>
                <p14:cNvContentPartPr/>
                <p14:nvPr/>
              </p14:nvContentPartPr>
              <p14:xfrm>
                <a:off x="10020420" y="5686380"/>
                <a:ext cx="360" cy="360"/>
              </p14:xfrm>
            </p:contentPart>
          </mc:Choice>
          <mc:Fallback xmlns="">
            <p:pic>
              <p:nvPicPr>
                <p:cNvPr id="21" name="Рукописный ввод 20">
                  <a:extLst>
                    <a:ext uri="{FF2B5EF4-FFF2-40B4-BE49-F238E27FC236}">
                      <a16:creationId xmlns:a16="http://schemas.microsoft.com/office/drawing/2014/main" id="{91E2CCE0-B3E3-CC9F-3434-6769A551D4E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011420" y="5632380"/>
                  <a:ext cx="180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">
              <p14:nvContentPartPr>
                <p14:cNvPr id="22" name="Рукописный ввод 21">
                  <a:extLst>
                    <a:ext uri="{FF2B5EF4-FFF2-40B4-BE49-F238E27FC236}">
                      <a16:creationId xmlns:a16="http://schemas.microsoft.com/office/drawing/2014/main" id="{ABFB0481-61A0-512A-6543-E732C10783A5}"/>
                    </a:ext>
                  </a:extLst>
                </p14:cNvPr>
                <p14:cNvContentPartPr/>
                <p14:nvPr/>
              </p14:nvContentPartPr>
              <p14:xfrm>
                <a:off x="10020420" y="5686380"/>
                <a:ext cx="360" cy="360"/>
              </p14:xfrm>
            </p:contentPart>
          </mc:Choice>
          <mc:Fallback xmlns="">
            <p:pic>
              <p:nvPicPr>
                <p:cNvPr id="22" name="Рукописный ввод 21">
                  <a:extLst>
                    <a:ext uri="{FF2B5EF4-FFF2-40B4-BE49-F238E27FC236}">
                      <a16:creationId xmlns:a16="http://schemas.microsoft.com/office/drawing/2014/main" id="{ABFB0481-61A0-512A-6543-E732C10783A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011420" y="5632380"/>
                  <a:ext cx="18000" cy="10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1">
            <p14:nvContentPartPr>
              <p14:cNvPr id="24" name="Рукописный ввод 23">
                <a:extLst>
                  <a:ext uri="{FF2B5EF4-FFF2-40B4-BE49-F238E27FC236}">
                    <a16:creationId xmlns:a16="http://schemas.microsoft.com/office/drawing/2014/main" id="{F5145744-6260-34B7-7C41-81D08D212797}"/>
                  </a:ext>
                </a:extLst>
              </p14:cNvPr>
              <p14:cNvContentPartPr/>
              <p14:nvPr/>
            </p14:nvContentPartPr>
            <p14:xfrm>
              <a:off x="8896500" y="1514340"/>
              <a:ext cx="360" cy="360"/>
            </p14:xfrm>
          </p:contentPart>
        </mc:Choice>
        <mc:Fallback xmlns="">
          <p:pic>
            <p:nvPicPr>
              <p:cNvPr id="24" name="Рукописный ввод 23">
                <a:extLst>
                  <a:ext uri="{FF2B5EF4-FFF2-40B4-BE49-F238E27FC236}">
                    <a16:creationId xmlns:a16="http://schemas.microsoft.com/office/drawing/2014/main" id="{F5145744-6260-34B7-7C41-81D08D21279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887500" y="1460340"/>
                <a:ext cx="18000" cy="10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09092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AFAE292-AB1F-574E-E072-B9289F73F7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" y="0"/>
            <a:ext cx="12191032" cy="6858000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0A7569B-209B-C72C-0889-FA8653E875D2}"/>
              </a:ext>
            </a:extLst>
          </p:cNvPr>
          <p:cNvSpPr/>
          <p:nvPr/>
        </p:nvSpPr>
        <p:spPr>
          <a:xfrm>
            <a:off x="695045" y="663047"/>
            <a:ext cx="6236208" cy="707886"/>
          </a:xfrm>
          <a:prstGeom prst="rect">
            <a:avLst/>
          </a:prstGeom>
          <a:noFill/>
          <a:effectLst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4000" b="1" dirty="0">
                <a:ln w="0"/>
                <a:solidFill>
                  <a:srgbClr val="4518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Почему моя программа?</a:t>
            </a:r>
            <a:endParaRPr lang="ru-RU" sz="4000" b="1" cap="none" spc="0" dirty="0">
              <a:ln w="0"/>
              <a:solidFill>
                <a:srgbClr val="4518F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A8020460-80CA-CFF4-E7BF-4234B21F829E}"/>
              </a:ext>
            </a:extLst>
          </p:cNvPr>
          <p:cNvGrpSpPr/>
          <p:nvPr/>
        </p:nvGrpSpPr>
        <p:grpSpPr>
          <a:xfrm>
            <a:off x="1089334" y="4113420"/>
            <a:ext cx="2155187" cy="1839821"/>
            <a:chOff x="9173070" y="1466944"/>
            <a:chExt cx="1926108" cy="1774603"/>
          </a:xfrm>
        </p:grpSpPr>
        <p:pic>
          <p:nvPicPr>
            <p:cNvPr id="4098" name="Picture 2" descr="Picture background">
              <a:extLst>
                <a:ext uri="{FF2B5EF4-FFF2-40B4-BE49-F238E27FC236}">
                  <a16:creationId xmlns:a16="http://schemas.microsoft.com/office/drawing/2014/main" id="{9365AB62-07C2-5C7B-C9AC-4DFA8DC7825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7619" b="83175" l="32667" r="67000">
                          <a14:foregroundMark x1="47083" y1="47460" x2="48667" y2="36032"/>
                          <a14:foregroundMark x1="38583" y1="26825" x2="57750" y2="36825"/>
                          <a14:foregroundMark x1="57750" y1="36825" x2="57167" y2="39365"/>
                          <a14:foregroundMark x1="43333" y1="22698" x2="39833" y2="49206"/>
                          <a14:foregroundMark x1="39833" y1="49206" x2="45917" y2="77619"/>
                          <a14:foregroundMark x1="45917" y1="77619" x2="63833" y2="64921"/>
                          <a14:foregroundMark x1="63833" y1="64921" x2="59250" y2="24286"/>
                          <a14:foregroundMark x1="59250" y1="24286" x2="56583" y2="26984"/>
                          <a14:foregroundMark x1="44917" y1="27778" x2="55750" y2="27619"/>
                          <a14:foregroundMark x1="43333" y1="24603" x2="54333" y2="25397"/>
                          <a14:foregroundMark x1="45000" y1="21905" x2="55417" y2="21905"/>
                          <a14:foregroundMark x1="47750" y1="21429" x2="57167" y2="20000"/>
                          <a14:foregroundMark x1="41000" y1="19524" x2="54167" y2="19524"/>
                          <a14:foregroundMark x1="66250" y1="31111" x2="66417" y2="50317"/>
                          <a14:foregroundMark x1="66250" y1="32698" x2="67000" y2="62857"/>
                          <a14:foregroundMark x1="65417" y1="44921" x2="67083" y2="67143"/>
                          <a14:foregroundMark x1="63750" y1="77937" x2="41833" y2="80317"/>
                          <a14:foregroundMark x1="43250" y1="82698" x2="50083" y2="83492"/>
                          <a14:foregroundMark x1="33500" y1="69841" x2="32667" y2="57778"/>
                          <a14:foregroundMark x1="40250" y1="18254" x2="53750" y2="17619"/>
                          <a14:foregroundMark x1="33250" y1="29683" x2="36333" y2="2158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333" t="12922" r="30513" b="14041"/>
            <a:stretch>
              <a:fillRect/>
            </a:stretch>
          </p:blipFill>
          <p:spPr bwMode="auto">
            <a:xfrm>
              <a:off x="9473184" y="1705022"/>
              <a:ext cx="1325880" cy="129844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Символ &quot;Запрещено&quot; 14">
              <a:extLst>
                <a:ext uri="{FF2B5EF4-FFF2-40B4-BE49-F238E27FC236}">
                  <a16:creationId xmlns:a16="http://schemas.microsoft.com/office/drawing/2014/main" id="{2EFD6EC3-DE3B-2402-F35B-D3B3EC7752F0}"/>
                </a:ext>
              </a:extLst>
            </p:cNvPr>
            <p:cNvSpPr/>
            <p:nvPr/>
          </p:nvSpPr>
          <p:spPr>
            <a:xfrm>
              <a:off x="9173070" y="1466944"/>
              <a:ext cx="1926108" cy="1774603"/>
            </a:xfrm>
            <a:prstGeom prst="noSmoking">
              <a:avLst>
                <a:gd name="adj" fmla="val 7582"/>
              </a:avLst>
            </a:prstGeom>
            <a:solidFill>
              <a:srgbClr val="FF0000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9510B0E6-1681-F81D-48FB-48BAD76116BB}"/>
              </a:ext>
            </a:extLst>
          </p:cNvPr>
          <p:cNvSpPr txBox="1"/>
          <p:nvPr/>
        </p:nvSpPr>
        <p:spPr>
          <a:xfrm>
            <a:off x="771540" y="2033980"/>
            <a:ext cx="3813048" cy="1174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ru-RU" sz="1900" b="1" dirty="0">
                <a:latin typeface="Arial" panose="020B0604020202020204" pitchFamily="34" charset="0"/>
                <a:cs typeface="Arial" panose="020B0604020202020204" pitchFamily="34" charset="0"/>
              </a:rPr>
              <a:t>Чистота данных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ru-RU" sz="1900" b="1" dirty="0">
                <a:latin typeface="Arial" panose="020B0604020202020204" pitchFamily="34" charset="0"/>
                <a:cs typeface="Arial" panose="020B0604020202020204" pitchFamily="34" charset="0"/>
              </a:rPr>
              <a:t>Высокая автономность 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ru-RU" sz="1900" b="1" dirty="0">
                <a:latin typeface="Arial" panose="020B0604020202020204" pitchFamily="34" charset="0"/>
                <a:cs typeface="Arial" panose="020B0604020202020204" pitchFamily="34" charset="0"/>
              </a:rPr>
              <a:t>Скорость и легкость</a:t>
            </a:r>
          </a:p>
        </p:txBody>
      </p:sp>
      <p:pic>
        <p:nvPicPr>
          <p:cNvPr id="2052" name="Picture 4" descr="Picture background">
            <a:extLst>
              <a:ext uri="{FF2B5EF4-FFF2-40B4-BE49-F238E27FC236}">
                <a16:creationId xmlns:a16="http://schemas.microsoft.com/office/drawing/2014/main" id="{3F9EEE64-0FC5-50EC-C901-F938DD1C4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2291" y="1539302"/>
            <a:ext cx="3385267" cy="16238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Picture background">
            <a:extLst>
              <a:ext uri="{FF2B5EF4-FFF2-40B4-BE49-F238E27FC236}">
                <a16:creationId xmlns:a16="http://schemas.microsoft.com/office/drawing/2014/main" id="{36C188FD-AAF3-E4E1-826E-484017C6D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2270" y="3713602"/>
            <a:ext cx="2025308" cy="24296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Picture background">
            <a:extLst>
              <a:ext uri="{FF2B5EF4-FFF2-40B4-BE49-F238E27FC236}">
                <a16:creationId xmlns:a16="http://schemas.microsoft.com/office/drawing/2014/main" id="{B43D6007-3688-F80D-86EA-E0F9DF9D77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4588" y="3429000"/>
            <a:ext cx="2266951" cy="18022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2203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865305D-D721-2C1B-37C3-FCC67CB2D6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" y="0"/>
            <a:ext cx="12191032" cy="6858000"/>
          </a:xfrm>
          <a:prstGeom prst="rect">
            <a:avLst/>
          </a:prstGeom>
        </p:spPr>
      </p:pic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ED6154A-736C-89A2-A8D1-C5B7E05C09B3}"/>
              </a:ext>
            </a:extLst>
          </p:cNvPr>
          <p:cNvSpPr/>
          <p:nvPr/>
        </p:nvSpPr>
        <p:spPr>
          <a:xfrm>
            <a:off x="714302" y="674102"/>
            <a:ext cx="6520511" cy="1077218"/>
          </a:xfrm>
          <a:prstGeom prst="rect">
            <a:avLst/>
          </a:prstGeom>
          <a:noFill/>
          <a:effectLst/>
        </p:spPr>
        <p:txBody>
          <a:bodyPr wrap="square" lIns="91440" tIns="45720" rIns="91440" bIns="45720">
            <a:spAutoFit/>
          </a:bodyPr>
          <a:lstStyle/>
          <a:p>
            <a:r>
              <a:rPr lang="ru-RU" sz="3200" b="1" dirty="0">
                <a:solidFill>
                  <a:srgbClr val="4518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Технические особенности реализации</a:t>
            </a:r>
            <a:endParaRPr lang="ru-RU" sz="3200" b="1" cap="none" spc="0" dirty="0">
              <a:ln w="0"/>
              <a:solidFill>
                <a:srgbClr val="4518F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0B29F0-8379-70F6-9604-3795FEE0224B}"/>
              </a:ext>
            </a:extLst>
          </p:cNvPr>
          <p:cNvSpPr txBox="1"/>
          <p:nvPr/>
        </p:nvSpPr>
        <p:spPr>
          <a:xfrm>
            <a:off x="598745" y="2544506"/>
            <a:ext cx="7017906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4400" indent="-2844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ru-RU" sz="1900" b="1" dirty="0">
                <a:latin typeface="Arial" panose="020B0604020202020204" pitchFamily="34" charset="0"/>
                <a:cs typeface="Arial" panose="020B0604020202020204" pitchFamily="34" charset="0"/>
              </a:rPr>
              <a:t>Приложение позволяет переключаться между светлым и темным режимами.</a:t>
            </a:r>
          </a:p>
          <a:p>
            <a:pPr marL="284400" indent="-2844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ru-RU" sz="1900" b="1" dirty="0">
                <a:latin typeface="Arial" panose="020B0604020202020204" pitchFamily="34" charset="0"/>
                <a:cs typeface="Arial" panose="020B0604020202020204" pitchFamily="34" charset="0"/>
              </a:rPr>
              <a:t>Система сохранения состояния сессии.</a:t>
            </a:r>
          </a:p>
          <a:p>
            <a:pPr marL="284400" indent="-2844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ru-RU" altLang="ru-RU" sz="1900" b="1" dirty="0">
                <a:latin typeface="Arial" panose="020B0604020202020204" pitchFamily="34" charset="0"/>
              </a:rPr>
              <a:t>Характеристики машины в правой части экрана обновляются мгновенно при нажатии на название. </a:t>
            </a:r>
            <a:endParaRPr lang="ru-RU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156C65B-7C26-A6E4-9B92-44EBB69F28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6437" y="735505"/>
            <a:ext cx="3001262" cy="25472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B2476E9-C507-ED82-A9A6-4198C9EA24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6436" y="3767918"/>
            <a:ext cx="3019643" cy="25472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88764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8A5DA8-5B02-2F45-BD59-FDC378954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/>
              <a:t>ы</a:t>
            </a:r>
            <a:endParaRPr lang="ru-RU" dirty="0"/>
          </a:p>
        </p:txBody>
      </p:sp>
      <p:graphicFrame>
        <p:nvGraphicFramePr>
          <p:cNvPr id="11" name="Объект 10">
            <a:extLst>
              <a:ext uri="{FF2B5EF4-FFF2-40B4-BE49-F238E27FC236}">
                <a16:creationId xmlns:a16="http://schemas.microsoft.com/office/drawing/2014/main" id="{96033EE6-00FB-2DFA-F3BB-F3F0FF0F97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523330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0265006-6AE4-F12B-65E6-DEB3813254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" y="0"/>
            <a:ext cx="12191032" cy="685800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0C740D0-D064-BABA-2EA3-E6237395F3BC}"/>
              </a:ext>
            </a:extLst>
          </p:cNvPr>
          <p:cNvSpPr/>
          <p:nvPr/>
        </p:nvSpPr>
        <p:spPr>
          <a:xfrm>
            <a:off x="714302" y="674102"/>
            <a:ext cx="7053074" cy="584775"/>
          </a:xfrm>
          <a:prstGeom prst="rect">
            <a:avLst/>
          </a:prstGeom>
          <a:noFill/>
          <a:effectLst/>
        </p:spPr>
        <p:txBody>
          <a:bodyPr wrap="square" lIns="91440" tIns="45720" rIns="91440" bIns="45720">
            <a:spAutoFit/>
          </a:bodyPr>
          <a:lstStyle/>
          <a:p>
            <a:r>
              <a:rPr lang="ru-RU" sz="3200" b="1" dirty="0">
                <a:solidFill>
                  <a:srgbClr val="4518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Перспективы развития проекта</a:t>
            </a:r>
            <a:endParaRPr lang="ru-RU" sz="3200" b="1" cap="none" spc="0" dirty="0">
              <a:ln w="0"/>
              <a:solidFill>
                <a:srgbClr val="4518F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D0AB057-D09A-50DC-A36D-DAA56A5A8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273" y="2055813"/>
            <a:ext cx="6401478" cy="11746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4400" marR="0" lvl="0" indent="-2844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ru-RU" altLang="ru-RU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Добавление новых моделей через программу</a:t>
            </a:r>
            <a:r>
              <a:rPr lang="en-US" altLang="ru-RU" sz="19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ru-RU" altLang="ru-RU" sz="1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4400" marR="0" lvl="0" indent="-2844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ru-RU" altLang="ru-RU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Сравнение нескольких автомобилей</a:t>
            </a:r>
            <a:r>
              <a:rPr lang="en-US" altLang="ru-RU" sz="19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4400" lvl="0" indent="-284400" eaLnBrk="0" fontAlgn="base" hangingPunct="0">
              <a:spcBef>
                <a:spcPct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ru-RU" sz="1900" b="1" dirty="0">
                <a:latin typeface="Arial" panose="020B0604020202020204" pitchFamily="34" charset="0"/>
                <a:cs typeface="Arial" panose="020B0604020202020204" pitchFamily="34" charset="0"/>
              </a:rPr>
              <a:t>Умные графики и статистика</a:t>
            </a: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ru-RU" altLang="ru-RU" sz="1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7" name="Picture 3" descr="Picture background">
            <a:extLst>
              <a:ext uri="{FF2B5EF4-FFF2-40B4-BE49-F238E27FC236}">
                <a16:creationId xmlns:a16="http://schemas.microsoft.com/office/drawing/2014/main" id="{68C5A2F6-B6DF-0EA7-69CF-79AB8BAB43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54212" y1="49592" x2="56793" y2="5350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037" t="15831" r="20839" b="16015"/>
          <a:stretch>
            <a:fillRect/>
          </a:stretch>
        </p:blipFill>
        <p:spPr bwMode="auto">
          <a:xfrm>
            <a:off x="8883336" y="1059767"/>
            <a:ext cx="2184506" cy="21707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Picture background">
            <a:extLst>
              <a:ext uri="{FF2B5EF4-FFF2-40B4-BE49-F238E27FC236}">
                <a16:creationId xmlns:a16="http://schemas.microsoft.com/office/drawing/2014/main" id="{300AA997-5291-2607-49FD-E4A4B3386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1452" y="3829831"/>
            <a:ext cx="3208275" cy="22457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Picture background">
            <a:extLst>
              <a:ext uri="{FF2B5EF4-FFF2-40B4-BE49-F238E27FC236}">
                <a16:creationId xmlns:a16="http://schemas.microsoft.com/office/drawing/2014/main" id="{F493CE58-62CC-D1CB-C86C-400238DAA7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2" b="12368"/>
          <a:stretch>
            <a:fillRect/>
          </a:stretch>
        </p:blipFill>
        <p:spPr bwMode="auto">
          <a:xfrm>
            <a:off x="1994260" y="3829831"/>
            <a:ext cx="3637503" cy="22506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669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DAF4039-EB47-9833-8C07-1391141AA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456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E927740-A345-ECAC-19A2-BBC10195F20E}"/>
              </a:ext>
            </a:extLst>
          </p:cNvPr>
          <p:cNvSpPr/>
          <p:nvPr/>
        </p:nvSpPr>
        <p:spPr>
          <a:xfrm>
            <a:off x="2039441" y="2605881"/>
            <a:ext cx="8113118" cy="92333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>
                <a:ln w="0"/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Перейдем к проекту</a:t>
            </a:r>
          </a:p>
        </p:txBody>
      </p:sp>
    </p:spTree>
    <p:extLst>
      <p:ext uri="{BB962C8B-B14F-4D97-AF65-F5344CB8AC3E}">
        <p14:creationId xmlns:p14="http://schemas.microsoft.com/office/powerpoint/2010/main" val="277812992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1196</TotalTime>
  <Words>598</Words>
  <Application>Microsoft Office PowerPoint</Application>
  <PresentationFormat>Широкоэкранный</PresentationFormat>
  <Paragraphs>65</Paragraphs>
  <Slides>8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Arial Black</vt:lpstr>
      <vt:lpstr>Go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ы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Ибрагим Омаров</dc:creator>
  <cp:lastModifiedBy>Ибрагим Омаров</cp:lastModifiedBy>
  <cp:revision>10</cp:revision>
  <dcterms:created xsi:type="dcterms:W3CDTF">2026-04-17T16:36:27Z</dcterms:created>
  <dcterms:modified xsi:type="dcterms:W3CDTF">2026-04-20T18:06:15Z</dcterms:modified>
</cp:coreProperties>
</file>